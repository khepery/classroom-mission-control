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1F6EC1A-4BB9-4EE0-97D7-F6D2BF66784F}">
          <p14:sldIdLst>
            <p14:sldId id="256"/>
          </p14:sldIdLst>
        </p14:section>
        <p14:section name="Perfect competition" id="{7A236AF0-2FD1-492D-BB2E-615B65D3842F}">
          <p14:sldIdLst>
            <p14:sldId id="257"/>
            <p14:sldId id="258"/>
            <p14:sldId id="259"/>
            <p14:sldId id="260"/>
          </p14:sldIdLst>
        </p14:section>
        <p14:section name="Monopolistic competition" id="{628A2AF4-6C49-45B4-9E90-255659EA79B1}">
          <p14:sldIdLst>
            <p14:sldId id="261"/>
            <p14:sldId id="262"/>
            <p14:sldId id="263"/>
          </p14:sldIdLst>
        </p14:section>
        <p14:section name="Oligopoly" id="{C3E46FCC-2676-4491-BD87-A854F8C6F965}">
          <p14:sldIdLst>
            <p14:sldId id="264"/>
            <p14:sldId id="265"/>
            <p14:sldId id="266"/>
            <p14:sldId id="267"/>
          </p14:sldIdLst>
        </p14:section>
        <p14:section name="Monopoly" id="{FD66BC89-7932-4DC1-896A-4B53C4EDD551}">
          <p14:sldIdLst>
            <p14:sldId id="268"/>
            <p14:sldId id="269"/>
            <p14:sldId id="270"/>
          </p14:sldIdLst>
        </p14:section>
        <p14:section name="Recap" id="{E129ED8B-B8B9-4227-A4DE-8740DBCC616E}">
          <p14:sldIdLst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structures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Perfect competition
Many firms, identical products, price takers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buyers and sellers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barriers to entry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sets the price?
Answer: The market, firms are price takers
The answer appears on the next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Monopolistic competition
Many firms, slightly different products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Branding and advertising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run profit, long run normal profit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Oligopoly
A few large firms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Interdependence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theory
Each firm guesses its rivals' moves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Collusion and cartels
Illegal in most countries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Monopoly
One firm, high barriers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maker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might a government allow a monopoly?
Answer: Economies of scale, natural monopoly, patents
The answer appears on the next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the whole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5" Type="http://schemas.openxmlformats.org/officeDocument/2006/relationships/slide" Target="slide6.xml"/><Relationship Id="rId7" Type="http://schemas.openxmlformats.org/officeDocument/2006/relationships/slide" Target="slide9.xml"/><Relationship Id="rId9" Type="http://schemas.openxmlformats.org/officeDocument/2006/relationships/slide" Target="slide13.xm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4" Type="http://schemas.openxmlformats.org/officeDocument/2006/relationships/image" Target="../media/image-1-3.png"/><Relationship Id="rId6" Type="http://schemas.openxmlformats.org/officeDocument/2006/relationships/image" Target="../media/image-1-4.png"/><Relationship Id="rId8" Type="http://schemas.openxmlformats.org/officeDocument/2006/relationships/image" Target="../media/image-1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5" Type="http://schemas.openxmlformats.org/officeDocument/2006/relationships/slide" Target="slide4.xml"/><Relationship Id="rId7" Type="http://schemas.openxmlformats.org/officeDocument/2006/relationships/slide" Target="slide5.xml"/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image" Target="../media/image-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5" Type="http://schemas.openxmlformats.org/officeDocument/2006/relationships/slide" Target="slide8.xm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5" Type="http://schemas.openxmlformats.org/officeDocument/2006/relationships/slide" Target="slide11.xml"/><Relationship Id="rId7" Type="http://schemas.openxmlformats.org/officeDocument/2006/relationships/slide" Target="slide12.xm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4" Type="http://schemas.openxmlformats.org/officeDocument/2006/relationships/image" Target="../media/image-9-3.png"/><Relationship Id="rId6" Type="http://schemas.openxmlformats.org/officeDocument/2006/relationships/image" Target="../media/image-9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5" Type="http://schemas.openxmlformats.org/officeDocument/2006/relationships/slide" Target="slide15.xm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4" Type="http://schemas.openxmlformats.org/officeDocument/2006/relationships/image" Target="../media/image-1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5285509" y="2369127"/>
            <a:ext cx="1620982" cy="21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structures</a:t>
            </a:r>
            <a:endParaRPr lang="en-US" sz="1790" dirty="0"/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" name="Section Zoom 4" descr="Perfect competition"/>
              <p:cNvGraphicFramePr>
                <a:graphicFrameLocks noChangeAspect="1"/>
              </p:cNvGraphicFramePr>
              <p:nvPr/>
            </p:nvGraphicFramePr>
            <p:xfrm>
              <a:off x="5104707" y="629689"/>
              <a:ext cx="1982585" cy="1982585"/>
            </p:xfrm>
            <a:graphic>
              <a:graphicData uri="http://schemas.microsoft.com/office/powerpoint/2016/sectionzoom">
                <psez:sectionZm>
                  <psez:sectionZmObj sectionId="{7A236AF0-2FD1-492D-BB2E-615B65D3842F}">
                    <psez:zmPr id="{0F8A17A1-D5ED-442E-BCBA-9F5B374B13DF}" returnToParent="1" imageType="cover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104707" y="629689"/>
                          <a:ext cx="1982585" cy="1982585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" name="Section Zoom 4" descr="Perfect competition">
                <a:hlinkClick r:id="rId3" tooltip="Perfect competition" action="ppaction://hlinksldjump"/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104707" y="629689"/>
                <a:ext cx="1982585" cy="1982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" name="Section Zoom 5" descr="Monopolistic competition"/>
              <p:cNvGraphicFramePr>
                <a:graphicFrameLocks noChangeAspect="1"/>
              </p:cNvGraphicFramePr>
              <p:nvPr/>
            </p:nvGraphicFramePr>
            <p:xfrm>
              <a:off x="6912725" y="2437707"/>
              <a:ext cx="1982585" cy="1982585"/>
            </p:xfrm>
            <a:graphic>
              <a:graphicData uri="http://schemas.microsoft.com/office/powerpoint/2016/sectionzoom">
                <psez:sectionZm>
                  <psez:sectionZmObj sectionId="{628A2AF4-6C49-45B4-9E90-255659EA79B1}">
                    <psez:zmPr id="{794B0BE0-5F88-4DE0-9755-4862D2ED835F}" returnToParent="1" imageType="cover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912725" y="2437707"/>
                          <a:ext cx="1982585" cy="1982585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" name="Section Zoom 5" descr="Monopolistic competition">
                <a:hlinkClick r:id="rId5" tooltip="Monopolistic competition" action="ppaction://hlinksldjump"/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12725" y="2437707"/>
                <a:ext cx="1982585" cy="1982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6" name="Section Zoom 6" descr="Oligopoly"/>
              <p:cNvGraphicFramePr>
                <a:graphicFrameLocks noChangeAspect="1"/>
              </p:cNvGraphicFramePr>
              <p:nvPr/>
            </p:nvGraphicFramePr>
            <p:xfrm>
              <a:off x="5104707" y="4245725"/>
              <a:ext cx="1982585" cy="1982585"/>
            </p:xfrm>
            <a:graphic>
              <a:graphicData uri="http://schemas.microsoft.com/office/powerpoint/2016/sectionzoom">
                <psez:sectionZm>
                  <psez:sectionZmObj sectionId="{C3E46FCC-2676-4491-BD87-A854F8C6F965}">
                    <psez:zmPr id="{D3870795-EEB8-43BE-AE6D-AAF4078E6DAB}" returnToParent="1" imageType="cover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104707" y="4245725"/>
                          <a:ext cx="1982585" cy="1982585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6" name="Section Zoom 6" descr="Oligopoly">
                <a:hlinkClick r:id="rId7" tooltip="Oligopoly" action="ppaction://hlinksldjump"/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04707" y="4245725"/>
                <a:ext cx="1982585" cy="1982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7" name="Section Zoom 7" descr="Monopoly"/>
              <p:cNvGraphicFramePr>
                <a:graphicFrameLocks noChangeAspect="1"/>
              </p:cNvGraphicFramePr>
              <p:nvPr/>
            </p:nvGraphicFramePr>
            <p:xfrm>
              <a:off x="3296689" y="2437707"/>
              <a:ext cx="1982585" cy="1982585"/>
            </p:xfrm>
            <a:graphic>
              <a:graphicData uri="http://schemas.microsoft.com/office/powerpoint/2016/sectionzoom">
                <psez:sectionZm>
                  <psez:sectionZmObj sectionId="{FD66BC89-7932-4DC1-896A-4B53C4EDD551}">
                    <psez:zmPr id="{924FDCFF-7E19-446E-984C-A322908FB684}" returnToParent="1" imageType="cover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296689" y="2437707"/>
                          <a:ext cx="1982585" cy="1982585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7" name="Section Zoom 7" descr="Monopoly">
                <a:hlinkClick r:id="rId9" tooltip="Monopoly" action="ppaction://hlinksldjump"/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96689" y="2437707"/>
                <a:ext cx="1982585" cy="198258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5285509" y="2369127"/>
            <a:ext cx="1620982" cy="21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competition</a:t>
            </a:r>
            <a:endParaRPr lang="en-US" sz="164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Many firms, identical products, price takers</a:t>
            </a:r>
            <a:endParaRPr lang="en-US" sz="1640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4" descr="Many buyers and sellers"/>
              <p:cNvGraphicFramePr>
                <a:graphicFrameLocks noChangeAspect="1"/>
              </p:cNvGraphicFramePr>
              <p:nvPr/>
            </p:nvGraphicFramePr>
            <p:xfrm>
              <a:off x="4884365" y="643166"/>
              <a:ext cx="1982585" cy="1982585"/>
            </p:xfrm>
            <a:graphic>
              <a:graphicData uri="http://schemas.microsoft.com/office/powerpoint/2016/slidezoom">
                <pslz:sldZm>
                  <pslz:sldZmObj sldId="258">
                    <pslz:zmPr id="{A4EB0308-1092-4BA2-BC2D-776A8BFBF0CE}" returnToParent="1" imageType="cover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84365" y="643166"/>
                          <a:ext cx="1982585" cy="198258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4" descr="Many buyers and sellers">
                <a:hlinkClick r:id="rId3" tooltip="Many buyers and sellers" action="ppaction://hlinksldjump"/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84365" y="643166"/>
                <a:ext cx="1982585" cy="1982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5" descr="No barriers to entry"/>
              <p:cNvGraphicFramePr>
                <a:graphicFrameLocks noChangeAspect="1"/>
              </p:cNvGraphicFramePr>
              <p:nvPr/>
            </p:nvGraphicFramePr>
            <p:xfrm>
              <a:off x="6768997" y="3144156"/>
              <a:ext cx="1982585" cy="1982585"/>
            </p:xfrm>
            <a:graphic>
              <a:graphicData uri="http://schemas.microsoft.com/office/powerpoint/2016/slidezoom">
                <pslz:sldZm>
                  <pslz:sldZmObj sldId="259">
                    <pslz:zmPr id="{53C9809E-6A62-44F4-A001-FE4D4F206A8A}" returnToParent="1" imageType="cover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768997" y="3144156"/>
                          <a:ext cx="1982585" cy="198258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5" descr="No barriers to entry">
                <a:hlinkClick r:id="rId5" tooltip="No barriers to entry" action="ppaction://hlinksldjump"/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8997" y="3144156"/>
                <a:ext cx="1982585" cy="1982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" name="Slide Zoom 6" descr="Who sets the price?"/>
              <p:cNvGraphicFramePr>
                <a:graphicFrameLocks noChangeAspect="1"/>
              </p:cNvGraphicFramePr>
              <p:nvPr/>
            </p:nvGraphicFramePr>
            <p:xfrm>
              <a:off x="3660760" y="3525800"/>
              <a:ext cx="1982585" cy="1982585"/>
            </p:xfrm>
            <a:graphic>
              <a:graphicData uri="http://schemas.microsoft.com/office/powerpoint/2016/slidezoom">
                <pslz:sldZm>
                  <pslz:sldZmObj sldId="260">
                    <pslz:zmPr id="{CA77A87B-25DC-4AAB-B5B2-8780D967E663}" returnToParent="1" imageType="cover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660760" y="3525800"/>
                          <a:ext cx="1982585" cy="198258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" name="Slide Zoom 6" descr="Who sets the price?">
                <a:hlinkClick r:id="rId7" tooltip="Who sets the price?" action="ppaction://hlinksldjump"/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0760" y="3525800"/>
                <a:ext cx="1982585" cy="198258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3913909" y="1496291"/>
            <a:ext cx="4364182" cy="386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buyers and sellers</a:t>
            </a:r>
            <a:endParaRPr lang="en-US" sz="491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3913909" y="1496291"/>
            <a:ext cx="4364182" cy="386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barriers to entry</a:t>
            </a:r>
            <a:endParaRPr lang="en-US" sz="491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3913909" y="1496291"/>
            <a:ext cx="4364182" cy="261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sets the price?</a:t>
            </a:r>
            <a:endParaRPr lang="en-US" sz="4910" dirty="0"/>
          </a:p>
        </p:txBody>
      </p:sp>
      <p:sp>
        <p:nvSpPr>
          <p:cNvPr id="3" name="Text 1"/>
          <p:cNvSpPr/>
          <p:nvPr/>
        </p:nvSpPr>
        <p:spPr>
          <a:xfrm>
            <a:off x="5472545" y="561109"/>
            <a:ext cx="1246909" cy="9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E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5400" dirty="0"/>
          </a:p>
        </p:txBody>
      </p:sp>
      <p:sp>
        <p:nvSpPr>
          <p:cNvPr id="4" name="ZMANS"/>
          <p:cNvSpPr/>
          <p:nvPr/>
        </p:nvSpPr>
        <p:spPr>
          <a:xfrm>
            <a:off x="4225636" y="4239491"/>
            <a:ext cx="37407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5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market, firms are price takers</a:t>
            </a:r>
            <a:endParaRPr lang="en-US" sz="2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5285509" y="2369127"/>
            <a:ext cx="1620982" cy="21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Monopolistic competition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Many firms, slightly different products</a:t>
            </a:r>
            <a:endParaRPr lang="en-US" sz="1500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4" descr="Branding and advertising"/>
              <p:cNvGraphicFramePr>
                <a:graphicFrameLocks noChangeAspect="1"/>
              </p:cNvGraphicFramePr>
              <p:nvPr/>
            </p:nvGraphicFramePr>
            <p:xfrm>
              <a:off x="5192877" y="510993"/>
              <a:ext cx="2246930" cy="2246930"/>
            </p:xfrm>
            <a:graphic>
              <a:graphicData uri="http://schemas.microsoft.com/office/powerpoint/2016/slidezoom">
                <pslz:sldZm>
                  <pslz:sldZmObj sldId="262">
                    <pslz:zmPr id="{1CA3AB2C-433E-4BD1-BAF9-2DE25705A19C}" returnToParent="1" imageType="cover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192877" y="510993"/>
                          <a:ext cx="2246930" cy="224693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4" descr="Branding and advertising">
                <a:hlinkClick r:id="rId3" tooltip="Branding and advertising" action="ppaction://hlinksldjump"/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192877" y="510993"/>
                <a:ext cx="2246930" cy="2246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5" descr="Short run profit, long run normal profit"/>
              <p:cNvGraphicFramePr>
                <a:graphicFrameLocks noChangeAspect="1"/>
              </p:cNvGraphicFramePr>
              <p:nvPr/>
            </p:nvGraphicFramePr>
            <p:xfrm>
              <a:off x="4752193" y="4100076"/>
              <a:ext cx="2246930" cy="2246930"/>
            </p:xfrm>
            <a:graphic>
              <a:graphicData uri="http://schemas.microsoft.com/office/powerpoint/2016/slidezoom">
                <pslz:sldZm>
                  <pslz:sldZmObj sldId="263">
                    <pslz:zmPr id="{B639CD9C-5E26-451C-B24C-FA4B056F3CFE}" returnToParent="1" imageType="cover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752193" y="4100076"/>
                          <a:ext cx="2246930" cy="224693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5" descr="Short run profit, long run normal profit">
                <a:hlinkClick r:id="rId5" tooltip="Short run profit, long run normal profit" action="ppaction://hlinksldjump"/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2193" y="4100076"/>
                <a:ext cx="2246930" cy="224693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3913909" y="1496291"/>
            <a:ext cx="4364182" cy="386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1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Branding and advertising</a:t>
            </a:r>
            <a:endParaRPr lang="en-US" sz="411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3913909" y="1496291"/>
            <a:ext cx="4364182" cy="386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7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run profit, long run normal profit</a:t>
            </a:r>
            <a:endParaRPr lang="en-US" sz="471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5285509" y="2369127"/>
            <a:ext cx="1620982" cy="21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Oligopoly</a:t>
            </a:r>
            <a:endParaRPr lang="en-US" sz="201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few large firms</a:t>
            </a:r>
            <a:endParaRPr lang="en-US" sz="2010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4" descr="Interdependence"/>
              <p:cNvGraphicFramePr>
                <a:graphicFrameLocks noChangeAspect="1"/>
              </p:cNvGraphicFramePr>
              <p:nvPr/>
            </p:nvGraphicFramePr>
            <p:xfrm>
              <a:off x="4884365" y="643166"/>
              <a:ext cx="1982585" cy="1982585"/>
            </p:xfrm>
            <a:graphic>
              <a:graphicData uri="http://schemas.microsoft.com/office/powerpoint/2016/slidezoom">
                <pslz:sldZm>
                  <pslz:sldZmObj sldId="265">
                    <pslz:zmPr id="{16636298-F730-4251-B873-EDE21EE91B31}" returnToParent="1" imageType="cover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84365" y="643166"/>
                          <a:ext cx="1982585" cy="198258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4" descr="Interdependence">
                <a:hlinkClick r:id="rId3" tooltip="Interdependence" action="ppaction://hlinksldjump"/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84365" y="643166"/>
                <a:ext cx="1982585" cy="1982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5" descr="Game theory"/>
              <p:cNvGraphicFramePr>
                <a:graphicFrameLocks noChangeAspect="1"/>
              </p:cNvGraphicFramePr>
              <p:nvPr/>
            </p:nvGraphicFramePr>
            <p:xfrm>
              <a:off x="6768997" y="3144156"/>
              <a:ext cx="1982585" cy="1982585"/>
            </p:xfrm>
            <a:graphic>
              <a:graphicData uri="http://schemas.microsoft.com/office/powerpoint/2016/slidezoom">
                <pslz:sldZm>
                  <pslz:sldZmObj sldId="266">
                    <pslz:zmPr id="{516B04AC-25E7-46BF-822C-8159DD1F88C4}" returnToParent="1" imageType="cover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768997" y="3144156"/>
                          <a:ext cx="1982585" cy="198258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5" descr="Game theory">
                <a:hlinkClick r:id="rId5" tooltip="Game theory" action="ppaction://hlinksldjump"/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8997" y="3144156"/>
                <a:ext cx="1982585" cy="1982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" name="Slide Zoom 6" descr="Collusion and cartels"/>
              <p:cNvGraphicFramePr>
                <a:graphicFrameLocks noChangeAspect="1"/>
              </p:cNvGraphicFramePr>
              <p:nvPr/>
            </p:nvGraphicFramePr>
            <p:xfrm>
              <a:off x="3660760" y="3525800"/>
              <a:ext cx="1982585" cy="1982585"/>
            </p:xfrm>
            <a:graphic>
              <a:graphicData uri="http://schemas.microsoft.com/office/powerpoint/2016/slidezoom">
                <pslz:sldZm>
                  <pslz:sldZmObj sldId="267">
                    <pslz:zmPr id="{1F0BED27-5BEB-4669-B049-97110838386F}" returnToParent="1" imageType="cover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660760" y="3525800"/>
                          <a:ext cx="1982585" cy="198258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" name="Slide Zoom 6" descr="Collusion and cartels">
                <a:hlinkClick r:id="rId7" tooltip="Collusion and cartels" action="ppaction://hlinksldjump"/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0760" y="3525800"/>
                <a:ext cx="1982585" cy="198258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3913909" y="1496291"/>
            <a:ext cx="4364182" cy="386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Interdependence</a:t>
            </a:r>
            <a:endParaRPr lang="en-US" sz="301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3913909" y="1496291"/>
            <a:ext cx="4364182" cy="386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theory</a:t>
            </a:r>
            <a:endParaRPr lang="en-US" sz="4910" dirty="0"/>
          </a:p>
          <a:p>
            <a:pPr algn="ctr" indent="0" marL="0">
              <a:buNone/>
            </a:pPr>
            <a:r>
              <a:rPr lang="en-US" sz="245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firm guesses its rivals' moves</a:t>
            </a:r>
            <a:endParaRPr lang="en-US" sz="491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3913909" y="1496291"/>
            <a:ext cx="4364182" cy="386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Collusion and cartels</a:t>
            </a:r>
            <a:endParaRPr lang="en-US" sz="4910" dirty="0"/>
          </a:p>
          <a:p>
            <a:pPr algn="ctr" indent="0" marL="0">
              <a:buNone/>
            </a:pPr>
            <a:r>
              <a:rPr lang="en-US" sz="245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 in most countries</a:t>
            </a:r>
            <a:endParaRPr lang="en-US" sz="491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5285509" y="2369127"/>
            <a:ext cx="1620982" cy="21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Monopoly</a:t>
            </a:r>
            <a:endParaRPr lang="en-US" sz="226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firm, high barriers</a:t>
            </a:r>
            <a:endParaRPr lang="en-US" sz="2260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4" descr="Price maker"/>
              <p:cNvGraphicFramePr>
                <a:graphicFrameLocks noChangeAspect="1"/>
              </p:cNvGraphicFramePr>
              <p:nvPr/>
            </p:nvGraphicFramePr>
            <p:xfrm>
              <a:off x="5192877" y="510993"/>
              <a:ext cx="2246930" cy="2246930"/>
            </p:xfrm>
            <a:graphic>
              <a:graphicData uri="http://schemas.microsoft.com/office/powerpoint/2016/slidezoom">
                <pslz:sldZm>
                  <pslz:sldZmObj sldId="269">
                    <pslz:zmPr id="{F119CF44-1878-4F64-BF67-E13846DABF78}" returnToParent="1" imageType="cover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192877" y="510993"/>
                          <a:ext cx="2246930" cy="224693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4" descr="Price maker">
                <a:hlinkClick r:id="rId3" tooltip="Price maker" action="ppaction://hlinksldjump"/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192877" y="510993"/>
                <a:ext cx="2246930" cy="2246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5" descr="Why might a government allow a monopoly?"/>
              <p:cNvGraphicFramePr>
                <a:graphicFrameLocks noChangeAspect="1"/>
              </p:cNvGraphicFramePr>
              <p:nvPr/>
            </p:nvGraphicFramePr>
            <p:xfrm>
              <a:off x="4752193" y="4100076"/>
              <a:ext cx="2246930" cy="2246930"/>
            </p:xfrm>
            <a:graphic>
              <a:graphicData uri="http://schemas.microsoft.com/office/powerpoint/2016/slidezoom">
                <pslz:sldZm>
                  <pslz:sldZmObj sldId="270">
                    <pslz:zmPr id="{41C981B1-468C-40AF-9A29-5F99497C90CD}" returnToParent="1" imageType="cover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752193" y="4100076"/>
                          <a:ext cx="2246930" cy="224693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5" descr="Why might a government allow a monopoly?">
                <a:hlinkClick r:id="rId5" tooltip="Why might a government allow a monopoly?" action="ppaction://hlinksldjump"/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2193" y="4100076"/>
                <a:ext cx="2246930" cy="224693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3913909" y="1496291"/>
            <a:ext cx="4364182" cy="386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maker</a:t>
            </a:r>
            <a:endParaRPr lang="en-US" sz="491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MTITLE"/>
          <p:cNvSpPr/>
          <p:nvPr/>
        </p:nvSpPr>
        <p:spPr>
          <a:xfrm>
            <a:off x="3913909" y="1496291"/>
            <a:ext cx="4364182" cy="261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might a government allow a monopoly?</a:t>
            </a:r>
            <a:endParaRPr lang="en-US" sz="3910" dirty="0"/>
          </a:p>
        </p:txBody>
      </p:sp>
      <p:sp>
        <p:nvSpPr>
          <p:cNvPr id="3" name="Text 1"/>
          <p:cNvSpPr/>
          <p:nvPr/>
        </p:nvSpPr>
        <p:spPr>
          <a:xfrm>
            <a:off x="5472545" y="561109"/>
            <a:ext cx="1246909" cy="93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9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5400" dirty="0"/>
          </a:p>
        </p:txBody>
      </p:sp>
      <p:sp>
        <p:nvSpPr>
          <p:cNvPr id="4" name="ZMANS"/>
          <p:cNvSpPr/>
          <p:nvPr/>
        </p:nvSpPr>
        <p:spPr>
          <a:xfrm>
            <a:off x="4225636" y="4239491"/>
            <a:ext cx="37407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5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Economies of scale, natural monopoly, patents</a:t>
            </a:r>
            <a:endParaRPr lang="en-US" sz="2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structures</dc:title>
  <dc:subject>PptxGenJS Presentation</dc:subject>
  <dc:creator>Classroom Mission Control</dc:creator>
  <cp:lastModifiedBy>Classroom Mission Control</cp:lastModifiedBy>
  <cp:revision>1</cp:revision>
  <dcterms:created xsi:type="dcterms:W3CDTF">2026-10-08T05:52:55Z</dcterms:created>
  <dcterms:modified xsi:type="dcterms:W3CDTF">2026-10-08T05:52:55Z</dcterms:modified>
</cp:coreProperties>
</file>